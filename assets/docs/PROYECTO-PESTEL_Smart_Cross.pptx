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STEL" id="{2A35C7B7-DB55-4E21-A015-07A9E74161FD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79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339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editar: cada tarjeta tiene 3 viñetas (clic en el texto para cambiarlas). Para cambiar un color, edita la insignia (círculo) y el título de la tarjeta. Pendiente de validar: normas vigentes (construcción, accesibilidad, instalaciones eléctricas, SG-SST, contratación) y datos externos (clima, políticas distritales). Las cifras de SMLMV y auxilio de transporte provienen de la hoja PARAMETROS INICIALES de la nómina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editar: cada tarjeta tiene 3 viñetas (clic en el texto para cambiarlas). Para cambiar un color, edita la insignia (círculo) y el título de la tarjeta. Pendiente de validar: normas vigentes (construcción, accesibilidad, instalaciones eléctricas, SG-SST, contratación) y datos externos (clima, políticas distritales). Las cifras de SMLMV y auxilio de transporte provienen de la hoja PARAMETROS INICIALES de la nómina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77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PESTEL</a:t>
            </a:r>
            <a:endParaRPr lang="en-US" sz="3400" dirty="0"/>
          </a:p>
        </p:txBody>
      </p:sp>
      <p:sp>
        <p:nvSpPr>
          <p:cNvPr id="3" name="Subtítulo"/>
          <p:cNvSpPr txBox="1"/>
          <p:nvPr/>
        </p:nvSpPr>
        <p:spPr>
          <a:xfrm>
            <a:off x="457200" y="8869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Proyecto </a:t>
            </a:r>
            <a:r>
              <a:rPr lang="en-US" sz="1400" dirty="0" err="1">
                <a:solidFill>
                  <a:schemeClr val="tx1"/>
                </a:solidFill>
              </a:rPr>
              <a:t>Hidrovía</a:t>
            </a:r>
            <a:r>
              <a:rPr lang="en-US" sz="1400" dirty="0">
                <a:solidFill>
                  <a:schemeClr val="tx1"/>
                </a:solidFill>
              </a:rPr>
              <a:t> · </a:t>
            </a:r>
            <a:r>
              <a:rPr lang="en-US" sz="1400" dirty="0" err="1">
                <a:solidFill>
                  <a:schemeClr val="tx1"/>
                </a:solidFill>
              </a:rPr>
              <a:t>Plataformas</a:t>
            </a:r>
            <a:r>
              <a:rPr lang="en-US" sz="1400" dirty="0">
                <a:solidFill>
                  <a:schemeClr val="tx1"/>
                </a:solidFill>
              </a:rPr>
              <a:t> peatonales antiinundación · Calle 170 con Carrera 7, Bogotá D.C.</a:t>
            </a:r>
            <a:endParaRPr lang="en-US" sz="1400" dirty="0"/>
          </a:p>
        </p:txBody>
      </p:sp>
      <p:sp>
        <p:nvSpPr>
          <p:cNvPr id="4" name="Etiqueta empresa"/>
          <p:cNvSpPr/>
          <p:nvPr/>
        </p:nvSpPr>
        <p:spPr>
          <a:xfrm>
            <a:off x="9720072" y="411480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" name="Texto etiqueta empresa"/>
          <p:cNvSpPr txBox="1"/>
          <p:nvPr/>
        </p:nvSpPr>
        <p:spPr>
          <a:xfrm>
            <a:off x="9720072" y="411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NIVELIA S.A.S.</a:t>
            </a:r>
            <a:endParaRPr lang="en-US" sz="1300" dirty="0"/>
          </a:p>
        </p:txBody>
      </p:sp>
      <p:sp>
        <p:nvSpPr>
          <p:cNvPr id="6" name="Tarjeta Político"/>
          <p:cNvSpPr/>
          <p:nvPr/>
        </p:nvSpPr>
        <p:spPr>
          <a:xfrm>
            <a:off x="457200" y="1371600"/>
            <a:ext cx="3611880" cy="4767943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Insignia Político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Letra Político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9" name="Título Político"/>
          <p:cNvSpPr txBox="1"/>
          <p:nvPr/>
        </p:nvSpPr>
        <p:spPr>
          <a:xfrm>
            <a:off x="1417320" y="1527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Político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Entorno institucional</a:t>
            </a:r>
            <a:endParaRPr lang="en-US" sz="2000" dirty="0"/>
          </a:p>
        </p:txBody>
      </p:sp>
      <p:sp>
        <p:nvSpPr>
          <p:cNvPr id="10" name="Factores Político"/>
          <p:cNvSpPr txBox="1"/>
          <p:nvPr/>
        </p:nvSpPr>
        <p:spPr>
          <a:xfrm>
            <a:off x="685800" y="2286000"/>
            <a:ext cx="320040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endParaRPr lang="es-MX" sz="12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Alineación con políticas urbanas: </a:t>
            </a:r>
            <a:r>
              <a:rPr lang="es-MX" sz="1200" dirty="0">
                <a:solidFill>
                  <a:schemeClr val="tx1"/>
                </a:solidFill>
              </a:rPr>
              <a:t>Se articula con los planes distritales de movilidad peatonal, infraestructura vial resiliente y gestión del riesgo de desastres en Bogotá D.C..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Ubicación y pertinencia pública: </a:t>
            </a:r>
            <a:r>
              <a:rPr lang="es-MX" sz="1200" dirty="0">
                <a:solidFill>
                  <a:schemeClr val="tx1"/>
                </a:solidFill>
              </a:rPr>
              <a:t>Atiende puntos urbanos críticos de la ciudad como la localización de referencia en la Calle 170 con Carrera 7.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Modelo de contratación pública (B2G): </a:t>
            </a:r>
            <a:r>
              <a:rPr lang="es-MX" sz="1200" dirty="0">
                <a:solidFill>
                  <a:schemeClr val="tx1"/>
                </a:solidFill>
              </a:rPr>
              <a:t>Requiere interacción con el sector público a través de licitaciones públicas y alianzas con entidades gubernamentales.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Gobernanza urbana: </a:t>
            </a:r>
            <a:r>
              <a:rPr lang="es-MX" sz="1200" dirty="0">
                <a:solidFill>
                  <a:schemeClr val="tx1"/>
                </a:solidFill>
              </a:rPr>
              <a:t>Exige coordinación e integración con secretarías de movilidad e institutos de desarrollo urbano encargados del espacio público.</a:t>
            </a:r>
            <a:endParaRPr lang="en-US" sz="1200" dirty="0"/>
          </a:p>
        </p:txBody>
      </p:sp>
      <p:sp>
        <p:nvSpPr>
          <p:cNvPr id="11" name="Tarjeta Económico"/>
          <p:cNvSpPr/>
          <p:nvPr/>
        </p:nvSpPr>
        <p:spPr>
          <a:xfrm>
            <a:off x="4288536" y="1371599"/>
            <a:ext cx="3611880" cy="4767943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2" name="Insignia Económico"/>
          <p:cNvSpPr/>
          <p:nvPr/>
        </p:nvSpPr>
        <p:spPr>
          <a:xfrm>
            <a:off x="4517136" y="157276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Letra Económico"/>
          <p:cNvSpPr txBox="1"/>
          <p:nvPr/>
        </p:nvSpPr>
        <p:spPr>
          <a:xfrm>
            <a:off x="4517136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14" name="Título Económico"/>
          <p:cNvSpPr txBox="1"/>
          <p:nvPr/>
        </p:nvSpPr>
        <p:spPr>
          <a:xfrm>
            <a:off x="5248656" y="1527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Económico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Costos y financiación</a:t>
            </a:r>
            <a:endParaRPr lang="en-US" sz="2000" dirty="0"/>
          </a:p>
        </p:txBody>
      </p:sp>
      <p:sp>
        <p:nvSpPr>
          <p:cNvPr id="15" name="Factores Económico"/>
          <p:cNvSpPr txBox="1"/>
          <p:nvPr/>
        </p:nvSpPr>
        <p:spPr>
          <a:xfrm>
            <a:off x="4517136" y="2286000"/>
            <a:ext cx="320040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endParaRPr lang="es-MX" sz="12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Solución costo-efectiva: </a:t>
            </a:r>
            <a:r>
              <a:rPr lang="es-MX" sz="1200" dirty="0">
                <a:solidFill>
                  <a:schemeClr val="tx1"/>
                </a:solidFill>
              </a:rPr>
              <a:t>Constituye una alternativa económicamente viables frente a los elevados costos y tiempos que requieren las obras mayores de drenaje urbano.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Reducción de costos indirectos: </a:t>
            </a:r>
            <a:r>
              <a:rPr lang="es-MX" sz="1200" dirty="0">
                <a:solidFill>
                  <a:schemeClr val="tx1"/>
                </a:solidFill>
              </a:rPr>
              <a:t>Evita pérdidas económicas asociadas a la interrupción del tránsito peatonal y afectación al comercio local durante eventos de lluvia intensa.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Estructura presupuestal integral: </a:t>
            </a:r>
            <a:r>
              <a:rPr lang="es-MX" sz="1200" dirty="0">
                <a:solidFill>
                  <a:schemeClr val="tx1"/>
                </a:solidFill>
              </a:rPr>
              <a:t>Define una estructura de costos clara que abarca CAPEX (adecuaciones, cimentación, estructura, automatización) y OPEX (mantenimiento y operación).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Esquema B2B y B2G: </a:t>
            </a:r>
            <a:r>
              <a:rPr lang="es-MX" sz="1200" dirty="0">
                <a:solidFill>
                  <a:schemeClr val="tx1"/>
                </a:solidFill>
              </a:rPr>
              <a:t>Permite modelos de comercialización y gestión contractual orientados tanto al sector público como a operadores privados de infraestructura.</a:t>
            </a:r>
            <a:endParaRPr lang="en-US" sz="1200" dirty="0"/>
          </a:p>
        </p:txBody>
      </p:sp>
      <p:sp>
        <p:nvSpPr>
          <p:cNvPr id="16" name="Tarjeta Social"/>
          <p:cNvSpPr/>
          <p:nvPr/>
        </p:nvSpPr>
        <p:spPr>
          <a:xfrm>
            <a:off x="8119872" y="1371599"/>
            <a:ext cx="3611880" cy="4767943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7" name="Insignia Social"/>
          <p:cNvSpPr/>
          <p:nvPr/>
        </p:nvSpPr>
        <p:spPr>
          <a:xfrm>
            <a:off x="8348472" y="157276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Letra Social"/>
          <p:cNvSpPr txBox="1"/>
          <p:nvPr/>
        </p:nvSpPr>
        <p:spPr>
          <a:xfrm>
            <a:off x="8348472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19" name="Título Social"/>
          <p:cNvSpPr txBox="1"/>
          <p:nvPr/>
        </p:nvSpPr>
        <p:spPr>
          <a:xfrm>
            <a:off x="9079992" y="1527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Usuarios y comunidad</a:t>
            </a:r>
            <a:endParaRPr lang="en-US" sz="2000" dirty="0"/>
          </a:p>
        </p:txBody>
      </p:sp>
      <p:sp>
        <p:nvSpPr>
          <p:cNvPr id="20" name="Factores Social"/>
          <p:cNvSpPr txBox="1"/>
          <p:nvPr/>
        </p:nvSpPr>
        <p:spPr>
          <a:xfrm>
            <a:off x="8348472" y="2286000"/>
            <a:ext cx="320040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endParaRPr lang="es-MX" sz="12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Garantía de conectividad peatonal: </a:t>
            </a:r>
            <a:r>
              <a:rPr lang="es-MX" sz="1200" dirty="0">
                <a:solidFill>
                  <a:schemeClr val="tx1"/>
                </a:solidFill>
              </a:rPr>
              <a:t>Mantiene la continuidad de los desplazamientos diarios de peatones hacia comercios, transporte y viviendas durante inundaciones temporales.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Inclusión y Accesibilidad Universal: </a:t>
            </a:r>
            <a:r>
              <a:rPr lang="es-MX" sz="1200" dirty="0">
                <a:solidFill>
                  <a:schemeClr val="tx1"/>
                </a:solidFill>
              </a:rPr>
              <a:t>Garantiza el tránsito seguro de Personas con Movilidad Reducida (PMR), adultos mayores y peatones con movilidad diversa mediante pendientes y superficies accesibles.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Salud y prevención de riesgos: </a:t>
            </a:r>
            <a:r>
              <a:rPr lang="es-MX" sz="1200" dirty="0">
                <a:solidFill>
                  <a:schemeClr val="tx1"/>
                </a:solidFill>
              </a:rPr>
              <a:t>Evita la exposición de los peatones a agua contaminada de escorrentía y previene caídas o resbalones.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Seguridad vial: </a:t>
            </a:r>
            <a:r>
              <a:rPr lang="es-MX" sz="1200" dirty="0">
                <a:solidFill>
                  <a:schemeClr val="tx1"/>
                </a:solidFill>
              </a:rPr>
              <a:t>Previene que los ciudadanos realicen desvíos o cruces inseguros por fuera de las zonas demarcadas.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200" dirty="0"/>
          </a:p>
        </p:txBody>
      </p:sp>
      <p:sp>
        <p:nvSpPr>
          <p:cNvPr id="36" name="Fuentes"/>
          <p:cNvSpPr txBox="1"/>
          <p:nvPr/>
        </p:nvSpPr>
        <p:spPr>
          <a:xfrm>
            <a:off x="457200" y="63093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Proyecto Hidrovía – Plataformas peatonales antiinundación (v1.0, sep. 2026); NIVELIA – Nómina 2026. Borrador editable: validar normativa y cifras vigentes antes de presentar.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arjeta Tecnológico"/>
          <p:cNvSpPr/>
          <p:nvPr/>
        </p:nvSpPr>
        <p:spPr>
          <a:xfrm>
            <a:off x="457200" y="859926"/>
            <a:ext cx="3611880" cy="5018042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2" name="Insignia Tecnológico"/>
          <p:cNvSpPr/>
          <p:nvPr/>
        </p:nvSpPr>
        <p:spPr>
          <a:xfrm>
            <a:off x="685800" y="1061094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Letra Tecnológico"/>
          <p:cNvSpPr txBox="1"/>
          <p:nvPr/>
        </p:nvSpPr>
        <p:spPr>
          <a:xfrm>
            <a:off x="685800" y="106109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24" name="Título Tecnológico"/>
          <p:cNvSpPr txBox="1"/>
          <p:nvPr/>
        </p:nvSpPr>
        <p:spPr>
          <a:xfrm>
            <a:off x="1417320" y="101537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Tecnológico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Sistema y automatización</a:t>
            </a:r>
            <a:endParaRPr lang="en-US" sz="2000" dirty="0"/>
          </a:p>
        </p:txBody>
      </p:sp>
      <p:sp>
        <p:nvSpPr>
          <p:cNvPr id="25" name="Factores Tecnológico"/>
          <p:cNvSpPr txBox="1"/>
          <p:nvPr/>
        </p:nvSpPr>
        <p:spPr>
          <a:xfrm>
            <a:off x="684276" y="1776004"/>
            <a:ext cx="3200400" cy="3681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endParaRPr lang="es-MX" sz="12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Integración multidisciplinar: </a:t>
            </a:r>
            <a:r>
              <a:rPr lang="es-MX" sz="1200" dirty="0">
                <a:solidFill>
                  <a:schemeClr val="tx1"/>
                </a:solidFill>
              </a:rPr>
              <a:t>Integra ingeniería civil, estructural, mecánica, eléctrica, automatización y sensores de nivel </a:t>
            </a:r>
            <a:r>
              <a:rPr lang="es-MX" sz="1200" dirty="0" err="1">
                <a:solidFill>
                  <a:schemeClr val="tx1"/>
                </a:solidFill>
              </a:rPr>
              <a:t>IoT</a:t>
            </a:r>
            <a:r>
              <a:rPr lang="es-MX" sz="1200" dirty="0">
                <a:solidFill>
                  <a:schemeClr val="tx1"/>
                </a:solidFill>
              </a:rPr>
              <a:t>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Control y lógica automatizada: </a:t>
            </a:r>
            <a:r>
              <a:rPr lang="es-MX" sz="1200" dirty="0">
                <a:solidFill>
                  <a:schemeClr val="tx1"/>
                </a:solidFill>
              </a:rPr>
              <a:t>Funciona mediante controladores lógicos (PLC), validación redundante por sensores, finales de carrera y modos de actuación automático, semiautomático y manual.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Sistemas de seguridad y redundancia: </a:t>
            </a:r>
            <a:r>
              <a:rPr lang="es-MX" sz="1200" dirty="0">
                <a:solidFill>
                  <a:schemeClr val="tx1"/>
                </a:solidFill>
              </a:rPr>
              <a:t>Incluye respaldo de energía (UPS/baterías), bloqueo mecánico de posición, paro de emergencia y alertas sonoras y luminosas.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Estructura modular: </a:t>
            </a:r>
            <a:r>
              <a:rPr lang="es-MX" sz="1200" dirty="0">
                <a:solidFill>
                  <a:schemeClr val="tx1"/>
                </a:solidFill>
              </a:rPr>
              <a:t>Permite fabricación previa en taller, fácil preensamble, rápido montaje en sitio y reemplazo eficiente de componentes.</a:t>
            </a:r>
            <a:endParaRPr lang="en-US" sz="1200" dirty="0"/>
          </a:p>
        </p:txBody>
      </p:sp>
      <p:sp>
        <p:nvSpPr>
          <p:cNvPr id="26" name="Tarjeta Ecológico"/>
          <p:cNvSpPr/>
          <p:nvPr/>
        </p:nvSpPr>
        <p:spPr>
          <a:xfrm>
            <a:off x="4288536" y="859926"/>
            <a:ext cx="3611880" cy="5018042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7" name="Insignia Ecológico"/>
          <p:cNvSpPr/>
          <p:nvPr/>
        </p:nvSpPr>
        <p:spPr>
          <a:xfrm>
            <a:off x="4517136" y="1061094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Letra Ecológico"/>
          <p:cNvSpPr txBox="1"/>
          <p:nvPr/>
        </p:nvSpPr>
        <p:spPr>
          <a:xfrm>
            <a:off x="4517136" y="106109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29" name="Título Ecológico"/>
          <p:cNvSpPr txBox="1"/>
          <p:nvPr/>
        </p:nvSpPr>
        <p:spPr>
          <a:xfrm>
            <a:off x="5248656" y="101537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Ecológico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Agua y medio ambiente</a:t>
            </a:r>
            <a:endParaRPr lang="en-US" sz="2000" dirty="0"/>
          </a:p>
        </p:txBody>
      </p:sp>
      <p:sp>
        <p:nvSpPr>
          <p:cNvPr id="30" name="Factores Ecológico"/>
          <p:cNvSpPr txBox="1"/>
          <p:nvPr/>
        </p:nvSpPr>
        <p:spPr>
          <a:xfrm>
            <a:off x="4515612" y="1776004"/>
            <a:ext cx="3200400" cy="3681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endParaRPr lang="es-MX" sz="12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Adaptación al cambio climático: </a:t>
            </a:r>
            <a:r>
              <a:rPr lang="es-MX" sz="1200" dirty="0">
                <a:solidFill>
                  <a:schemeClr val="tx1"/>
                </a:solidFill>
              </a:rPr>
              <a:t>Incrementa la resiliencia urbana frente a eventos climáticos de lluvias intensas sin alterar negativamente el entorno.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Compatibilidad hidráulica: </a:t>
            </a:r>
            <a:r>
              <a:rPr lang="es-MX" sz="1200" dirty="0">
                <a:solidFill>
                  <a:schemeClr val="tx1"/>
                </a:solidFill>
              </a:rPr>
              <a:t>Respeta la escorrentía del sector sin obstruir sumideros, cunetas ni canales de drenaje existentes.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Ciclo de vida y gestión de residuos: </a:t>
            </a:r>
            <a:r>
              <a:rPr lang="es-MX" sz="1200" dirty="0">
                <a:solidFill>
                  <a:schemeClr val="tx1"/>
                </a:solidFill>
              </a:rPr>
              <a:t>Establece procedimientos de control ambiental para residuos de construcción, aceites e insumos, priorizando la durabilidad y </a:t>
            </a:r>
            <a:r>
              <a:rPr lang="es-MX" sz="1200" dirty="0" err="1">
                <a:solidFill>
                  <a:schemeClr val="tx1"/>
                </a:solidFill>
              </a:rPr>
              <a:t>reparabilidad</a:t>
            </a:r>
            <a:r>
              <a:rPr lang="es-MX" sz="1200" dirty="0">
                <a:solidFill>
                  <a:schemeClr val="tx1"/>
                </a:solidFill>
              </a:rPr>
              <a:t> de materiales.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Supervisión de impacto ambiental: </a:t>
            </a:r>
            <a:r>
              <a:rPr lang="es-MX" sz="1200" dirty="0">
                <a:solidFill>
                  <a:schemeClr val="tx1"/>
                </a:solidFill>
              </a:rPr>
              <a:t>Cuenta con el respaldo de la Dirección de Sostenibilidad y Gestión Ambiental de la empresa ejecutora (NIVELIA S.A.S.).</a:t>
            </a:r>
            <a:endParaRPr lang="en-US" sz="1200" dirty="0"/>
          </a:p>
        </p:txBody>
      </p:sp>
      <p:sp>
        <p:nvSpPr>
          <p:cNvPr id="31" name="Tarjeta Legal"/>
          <p:cNvSpPr/>
          <p:nvPr/>
        </p:nvSpPr>
        <p:spPr>
          <a:xfrm>
            <a:off x="8119872" y="859926"/>
            <a:ext cx="3611880" cy="5018042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2" name="Insignia Legal"/>
          <p:cNvSpPr/>
          <p:nvPr/>
        </p:nvSpPr>
        <p:spPr>
          <a:xfrm>
            <a:off x="8348472" y="1061094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3" name="Letra Legal"/>
          <p:cNvSpPr txBox="1"/>
          <p:nvPr/>
        </p:nvSpPr>
        <p:spPr>
          <a:xfrm>
            <a:off x="8348472" y="106109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400" dirty="0"/>
          </a:p>
        </p:txBody>
      </p:sp>
      <p:sp>
        <p:nvSpPr>
          <p:cNvPr id="34" name="Título Legal"/>
          <p:cNvSpPr txBox="1"/>
          <p:nvPr/>
        </p:nvSpPr>
        <p:spPr>
          <a:xfrm>
            <a:off x="9079992" y="101537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Normativa y cumplimiento</a:t>
            </a:r>
            <a:endParaRPr lang="en-US" sz="2000" dirty="0"/>
          </a:p>
        </p:txBody>
      </p:sp>
      <p:sp>
        <p:nvSpPr>
          <p:cNvPr id="35" name="Factores Legal"/>
          <p:cNvSpPr txBox="1"/>
          <p:nvPr/>
        </p:nvSpPr>
        <p:spPr>
          <a:xfrm>
            <a:off x="8346948" y="1776004"/>
            <a:ext cx="3200400" cy="388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endParaRPr lang="es-MX" sz="12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Cumplimiento de normatividad técnica: </a:t>
            </a:r>
            <a:r>
              <a:rPr lang="es-MX" sz="1200" dirty="0">
                <a:solidFill>
                  <a:schemeClr val="tx1"/>
                </a:solidFill>
              </a:rPr>
              <a:t>Cumple con la normativa colombiana en diseño estructural, accesibilidad peatonal e instalaciones eléctricas (RETIE).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Seguridad y Salud en el Trabajo (SST): </a:t>
            </a:r>
            <a:r>
              <a:rPr lang="es-MX" sz="1200" dirty="0">
                <a:solidFill>
                  <a:schemeClr val="tx1"/>
                </a:solidFill>
              </a:rPr>
              <a:t>Aplica la legislación laboral vigente mediante matrices de riesgo, Permisos de Trabajo, Análisis de Trabajo Seguro (ATS) y el Reglamento Interno de Trabajo del Proyecto.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Marco organizacional e intelectual: </a:t>
            </a:r>
            <a:r>
              <a:rPr lang="es-MX" sz="1200" dirty="0">
                <a:solidFill>
                  <a:schemeClr val="tx1"/>
                </a:solidFill>
              </a:rPr>
              <a:t>Estructurado bajo la figura jurídica de Sociedad por Acciones Simplificada (NIVELIA S.A.S.), con asignación formal mediante matriz RACI y cláusulas de confidencialidad y propiedad intelectual.   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chemeClr val="tx1"/>
                </a:solidFill>
              </a:rPr>
              <a:t>Permisos de intervención: </a:t>
            </a:r>
            <a:r>
              <a:rPr lang="es-MX" sz="1200" dirty="0">
                <a:solidFill>
                  <a:schemeClr val="tx1"/>
                </a:solidFill>
              </a:rPr>
              <a:t>Exige la tramitación de licencias y autorizaciones legales ante las autoridades distritales para la intervención en el espacio público.</a:t>
            </a:r>
            <a:endParaRPr lang="en-US" sz="1200" dirty="0"/>
          </a:p>
        </p:txBody>
      </p:sp>
      <p:sp>
        <p:nvSpPr>
          <p:cNvPr id="36" name="Fuentes"/>
          <p:cNvSpPr txBox="1"/>
          <p:nvPr/>
        </p:nvSpPr>
        <p:spPr>
          <a:xfrm>
            <a:off x="457200" y="63093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Proyecto Hidrovía – Plataformas peatonales antiinundación (v1.0, sep. 2026); NIVELIA – Nómina 2026. Borrador editable: validar normativa y cifras vigentes antes de presentar.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44243"/>
      </p:ext>
    </p:extLst>
  </p:cSld>
  <p:clrMapOvr>
    <a:masterClrMapping/>
  </p:clrMapOvr>
</p:sld>
</file>

<file path=ppt/theme/theme1.xml><?xml version="1.0" encoding="utf-8"?>
<a:theme xmlns:a="http://schemas.openxmlformats.org/drawingml/2006/main" name="NIVELIA PESTEL">
  <a:themeElements>
    <a:clrScheme name="NIVELIA PESTEL">
      <a:dk1>
        <a:srgbClr val="1B2A3A"/>
      </a:dk1>
      <a:lt1>
        <a:srgbClr val="FFFFFF"/>
      </a:lt1>
      <a:dk2>
        <a:srgbClr val="0B2A4A"/>
      </a:dk2>
      <a:lt2>
        <a:srgbClr val="F1F6FA"/>
      </a:lt2>
      <a:accent1>
        <a:srgbClr val="1F3A68"/>
      </a:accent1>
      <a:accent2>
        <a:srgbClr val="2E6F9E"/>
      </a:accent2>
      <a:accent3>
        <a:srgbClr val="1C9A8F"/>
      </a:accent3>
      <a:accent4>
        <a:srgbClr val="D9822B"/>
      </a:accent4>
      <a:accent5>
        <a:srgbClr val="4C9A4A"/>
      </a:accent5>
      <a:accent6>
        <a:srgbClr val="7A4E9E"/>
      </a:accent6>
      <a:hlink>
        <a:srgbClr val="2E6F9E"/>
      </a:hlink>
      <a:folHlink>
        <a:srgbClr val="7A4E9E"/>
      </a:folHlink>
    </a:clrScheme>
    <a:fontScheme name="NIVELIA PEST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907</Words>
  <Application>Microsoft Office PowerPoint</Application>
  <PresentationFormat>Panorámica</PresentationFormat>
  <Paragraphs>59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NIVELIA PESTEL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PESTEL – Plataformas peatonales antiinundación</dc:title>
  <dc:subject>PptxGenJS Presentation</dc:subject>
  <dc:creator>NIVELIA S.A.S.</dc:creator>
  <cp:lastModifiedBy>leonardo Tapias</cp:lastModifiedBy>
  <cp:revision>2</cp:revision>
  <dcterms:created xsi:type="dcterms:W3CDTF">2026-10-06T00:53:46Z</dcterms:created>
  <dcterms:modified xsi:type="dcterms:W3CDTF">2026-10-06T01:55:09Z</dcterms:modified>
</cp:coreProperties>
</file>